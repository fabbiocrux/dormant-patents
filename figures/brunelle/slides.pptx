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18" r:id="rId2"/>
    <p:sldId id="492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E3E5E-A230-CF09-2ECE-6BE0783B2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ADEDA-769B-95BF-F6D9-C33D94102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B7D523-05F5-8171-26FF-952468751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73F688-F3B1-5C89-1061-932ADABD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F0D663-3811-97EF-3B22-9CDFD3A3F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0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3B670-0328-6436-BC03-A9F3DD23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CEE14D-72C1-96A0-B4D0-2FA7C2C3E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517666-9EFB-6BC7-7EF7-AB4387E3C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406A08-F433-9872-C370-D67EEC17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7E798A-278B-26FF-684E-A9CA65836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29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D92E1-3CD1-E4FA-C0CF-C0CBFFFD0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BB829E-EDEC-4E1E-8193-3BA812C39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FFCE84-CCF0-F81B-9223-BE5E970A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328050-A7BB-1512-D82B-CECADF13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5C3570-3027-4F28-04D6-E64CD8FF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7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4FAC6F-D713-E0E9-62D2-202CB3AB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420AA9-A86D-066F-A22E-E9643AB26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70FE92-3CD1-1A8B-C57F-618402F7E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72B528-1591-63B3-069E-F258E3C7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286BAD-1CF2-A35A-0F87-09F9E7BA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407227-C435-C382-77E2-3F40DEEEA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5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793D13-C9A8-235C-571D-8B2FAA6E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4937A7-2264-B656-963E-42B1003DD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EF4656-0123-7C7E-210A-DA7833E7B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9E4A305-C4EE-F8F3-E701-BBA5C2FFB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EDE4051-398D-51EA-5990-F886E597F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B335636-8893-F714-B472-6CB6CA63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D7EC5E-BD31-2657-0DF7-88637A71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84004F-C59A-0810-BEB0-356294CD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4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7F5279-6B75-9E12-7268-B46EBC239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A2B994-B62A-1292-4EE0-0D6696B2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7BA9C6-3012-19B3-74E6-3D43A394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278F30-006A-5294-FB1B-FD7D05BE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4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7E18BA7-8792-655F-9643-767216AE0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753F219-60E7-1B8B-C8C1-09489DD6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158B34-4E78-5E7F-0E4B-FE0F5095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4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5017CF-B46A-F1E3-97C0-FCB8EFF5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BD1FD0-0E8B-7515-8A4C-E44CA210E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327295-1FDB-406C-96D7-6873FF74D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6BA400-DD1F-07C9-5342-100D7316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3B912C-7B68-CC06-0616-BB000CC8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47928E-4F07-F0FC-8526-EF12F039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3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083196-7F06-9428-8CD5-C9667DD52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C4262F8-D1E9-5C9D-9D32-2AE14B3C9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12280D-5FE5-E6D7-E793-9DC9C1C42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737397-9EBF-25C9-190D-CF1FDB6A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C0D222-47AA-35C3-A974-C0348FB8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418E4D-44D8-E3D9-5257-D254D90E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B9CDED-F61D-BAD9-27AD-08AE52A0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458887-28C0-01F6-5A68-8EBFD366A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336E8B-D9A4-BFF3-D68C-91BC46DF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21A246-A684-A20A-592E-8201D4D8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B2637-FA1E-A1E8-9AEC-C2477E7F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5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3856165-CDF1-1173-B3F3-1C60D2979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F075DA2-EDC6-7DB5-E1E1-F92C3EBAC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D2C8C5-38C5-94EF-5455-EDFEA0A3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8E6AC9-3AF7-76DA-F6FA-660DB028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D31A6B-CBE7-813B-CD09-1C35AEF3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9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ECA7EB-46EE-6209-2499-EE80E1BC0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880212-1516-BB31-3F87-7D1F18895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8391C5-07AE-4D46-752E-799BEA5B6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84878-253D-5A48-B37D-9D36A39D8A92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40E0FB-98C4-DDD8-5E74-B82C3C928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EF93C7-DA7B-0623-2782-F0FFF5ED6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DEE01-D598-A64F-AC96-450A23977B9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20DDCD1-D7A6-47FA-9F02-7997507C277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5440" y="476672"/>
            <a:ext cx="8496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ranklin Gothic Heavy" panose="020B0903020102020204" pitchFamily="34" charset="0"/>
              </a:rPr>
              <a:t>Quel est le lien entre signal faible et tendance lourde ?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16E06007-8894-41A4-95A3-63E3A87E48F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432050" y="2051048"/>
            <a:ext cx="9469052" cy="1248603"/>
            <a:chOff x="1739516" y="2559759"/>
            <a:chExt cx="9469052" cy="1248603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4CB5E1CF-9B0D-4D4E-B4D1-DACBE5BA76FA}"/>
                </a:ext>
              </a:extLst>
            </p:cNvPr>
            <p:cNvGrpSpPr/>
            <p:nvPr/>
          </p:nvGrpSpPr>
          <p:grpSpPr>
            <a:xfrm>
              <a:off x="1739516" y="2636912"/>
              <a:ext cx="9469052" cy="1171450"/>
              <a:chOff x="1739516" y="2636912"/>
              <a:chExt cx="9469052" cy="1171450"/>
            </a:xfrm>
          </p:grpSpPr>
          <p:grpSp>
            <p:nvGrpSpPr>
              <p:cNvPr id="10" name="Groupe 9">
                <a:extLst>
                  <a:ext uri="{FF2B5EF4-FFF2-40B4-BE49-F238E27FC236}">
                    <a16:creationId xmlns:a16="http://schemas.microsoft.com/office/drawing/2014/main" id="{C2526431-C736-4D5F-A504-138D65FCCA18}"/>
                  </a:ext>
                </a:extLst>
              </p:cNvPr>
              <p:cNvGrpSpPr/>
              <p:nvPr/>
            </p:nvGrpSpPr>
            <p:grpSpPr>
              <a:xfrm>
                <a:off x="1739516" y="2636912"/>
                <a:ext cx="8712968" cy="1171450"/>
                <a:chOff x="1768507" y="2267211"/>
                <a:chExt cx="8712968" cy="1171450"/>
              </a:xfrm>
            </p:grpSpPr>
            <p:sp>
              <p:nvSpPr>
                <p:cNvPr id="8" name="Flèche : droite 7">
                  <a:extLst>
                    <a:ext uri="{FF2B5EF4-FFF2-40B4-BE49-F238E27FC236}">
                      <a16:creationId xmlns:a16="http://schemas.microsoft.com/office/drawing/2014/main" id="{BDF271A4-A5B2-4AA6-9640-811DC2A764AE}"/>
                    </a:ext>
                  </a:extLst>
                </p:cNvPr>
                <p:cNvSpPr/>
                <p:nvPr/>
              </p:nvSpPr>
              <p:spPr>
                <a:xfrm>
                  <a:off x="6088987" y="2267211"/>
                  <a:ext cx="4392488" cy="1171450"/>
                </a:xfrm>
                <a:prstGeom prst="rightArrow">
                  <a:avLst/>
                </a:prstGeom>
                <a:solidFill>
                  <a:srgbClr val="292E47"/>
                </a:solidFill>
                <a:ln>
                  <a:solidFill>
                    <a:srgbClr val="292E4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latin typeface="Franklin Gothic Demi Cond" panose="020B0706030402020204" pitchFamily="34" charset="0"/>
                    </a:rPr>
                    <a:t>TENDANCE LOURDE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11430E6-8881-4D52-86C0-64882D9D42C7}"/>
                    </a:ext>
                  </a:extLst>
                </p:cNvPr>
                <p:cNvSpPr/>
                <p:nvPr/>
              </p:nvSpPr>
              <p:spPr>
                <a:xfrm>
                  <a:off x="1768507" y="2564904"/>
                  <a:ext cx="4320480" cy="576064"/>
                </a:xfrm>
                <a:prstGeom prst="rect">
                  <a:avLst/>
                </a:prstGeom>
                <a:solidFill>
                  <a:srgbClr val="61257F"/>
                </a:solidFill>
                <a:ln>
                  <a:solidFill>
                    <a:srgbClr val="62257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latin typeface="Franklin Gothic Demi Cond" panose="020B0706030402020204" pitchFamily="34" charset="0"/>
                    </a:rPr>
                    <a:t>SIGNAL FAIBLE</a:t>
                  </a:r>
                </a:p>
              </p:txBody>
            </p:sp>
          </p:grp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E737C188-A92C-4970-87E9-FB2D2C60A543}"/>
                  </a:ext>
                </a:extLst>
              </p:cNvPr>
              <p:cNvSpPr txBox="1"/>
              <p:nvPr/>
            </p:nvSpPr>
            <p:spPr>
              <a:xfrm>
                <a:off x="10452484" y="3068748"/>
                <a:ext cx="7560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i="1" dirty="0">
                    <a:latin typeface="Franklin Gothic Heavy" panose="020B0903020102020204" pitchFamily="34" charset="0"/>
                  </a:rPr>
                  <a:t>Temps</a:t>
                </a:r>
              </a:p>
            </p:txBody>
          </p:sp>
        </p:grp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65CD4C99-8F5F-4EB9-A11E-9DDA9D570AF4}"/>
                </a:ext>
              </a:extLst>
            </p:cNvPr>
            <p:cNvGrpSpPr/>
            <p:nvPr/>
          </p:nvGrpSpPr>
          <p:grpSpPr>
            <a:xfrm>
              <a:off x="1919536" y="2566219"/>
              <a:ext cx="3989340" cy="216024"/>
              <a:chOff x="1919536" y="2566219"/>
              <a:chExt cx="3989340" cy="216024"/>
            </a:xfrm>
          </p:grpSpPr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C5E5CFEC-EF57-4D3A-9B8A-98B984D1701D}"/>
                  </a:ext>
                </a:extLst>
              </p:cNvPr>
              <p:cNvSpPr/>
              <p:nvPr/>
            </p:nvSpPr>
            <p:spPr>
              <a:xfrm>
                <a:off x="1919536" y="2566219"/>
                <a:ext cx="216024" cy="216024"/>
              </a:xfrm>
              <a:prstGeom prst="ellipse">
                <a:avLst/>
              </a:prstGeom>
              <a:solidFill>
                <a:srgbClr val="61257F">
                  <a:alpha val="38824"/>
                </a:srgbClr>
              </a:solidFill>
              <a:ln w="19050">
                <a:solidFill>
                  <a:srgbClr val="61257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341B8826-CC49-4C28-9193-9C69B31A8546}"/>
                  </a:ext>
                </a:extLst>
              </p:cNvPr>
              <p:cNvSpPr/>
              <p:nvPr/>
            </p:nvSpPr>
            <p:spPr>
              <a:xfrm>
                <a:off x="2855640" y="2566219"/>
                <a:ext cx="216024" cy="216024"/>
              </a:xfrm>
              <a:prstGeom prst="ellipse">
                <a:avLst/>
              </a:prstGeom>
              <a:solidFill>
                <a:srgbClr val="61257F">
                  <a:alpha val="38824"/>
                </a:srgbClr>
              </a:solidFill>
              <a:ln w="19050">
                <a:solidFill>
                  <a:srgbClr val="61257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5642BA1E-7E83-4D17-AC26-55DFD5047DAF}"/>
                  </a:ext>
                </a:extLst>
              </p:cNvPr>
              <p:cNvSpPr/>
              <p:nvPr/>
            </p:nvSpPr>
            <p:spPr>
              <a:xfrm>
                <a:off x="3844566" y="2566219"/>
                <a:ext cx="216024" cy="216024"/>
              </a:xfrm>
              <a:prstGeom prst="ellipse">
                <a:avLst/>
              </a:prstGeom>
              <a:solidFill>
                <a:srgbClr val="61257F">
                  <a:alpha val="38824"/>
                </a:srgbClr>
              </a:solidFill>
              <a:ln w="19050">
                <a:solidFill>
                  <a:srgbClr val="61257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F50DCA0B-13F5-49E9-9754-82F53F2C7BE8}"/>
                  </a:ext>
                </a:extLst>
              </p:cNvPr>
              <p:cNvSpPr/>
              <p:nvPr/>
            </p:nvSpPr>
            <p:spPr>
              <a:xfrm>
                <a:off x="4382258" y="2566219"/>
                <a:ext cx="216024" cy="216024"/>
              </a:xfrm>
              <a:prstGeom prst="ellipse">
                <a:avLst/>
              </a:prstGeom>
              <a:solidFill>
                <a:srgbClr val="61257F">
                  <a:alpha val="38824"/>
                </a:srgbClr>
              </a:solidFill>
              <a:ln w="19050">
                <a:solidFill>
                  <a:srgbClr val="61257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Rectangle : coins arrondis 29">
                <a:extLst>
                  <a:ext uri="{FF2B5EF4-FFF2-40B4-BE49-F238E27FC236}">
                    <a16:creationId xmlns:a16="http://schemas.microsoft.com/office/drawing/2014/main" id="{34420321-F341-40AE-9DE9-D25E299726FF}"/>
                  </a:ext>
                </a:extLst>
              </p:cNvPr>
              <p:cNvSpPr/>
              <p:nvPr/>
            </p:nvSpPr>
            <p:spPr>
              <a:xfrm>
                <a:off x="5117394" y="2566219"/>
                <a:ext cx="791482" cy="209564"/>
              </a:xfrm>
              <a:prstGeom prst="roundRect">
                <a:avLst>
                  <a:gd name="adj" fmla="val 50000"/>
                </a:avLst>
              </a:prstGeom>
              <a:solidFill>
                <a:srgbClr val="61257F">
                  <a:alpha val="38824"/>
                </a:srgbClr>
              </a:solidFill>
              <a:ln w="19050">
                <a:solidFill>
                  <a:srgbClr val="61257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4D4BD8AC-26DF-49DA-A05D-8E0BEABA48D7}"/>
                </a:ext>
              </a:extLst>
            </p:cNvPr>
            <p:cNvGrpSpPr/>
            <p:nvPr/>
          </p:nvGrpSpPr>
          <p:grpSpPr>
            <a:xfrm>
              <a:off x="6136742" y="2559759"/>
              <a:ext cx="3989340" cy="222484"/>
              <a:chOff x="6136742" y="2559759"/>
              <a:chExt cx="3989340" cy="222484"/>
            </a:xfrm>
          </p:grpSpPr>
          <p:grpSp>
            <p:nvGrpSpPr>
              <p:cNvPr id="31" name="Groupe 30">
                <a:extLst>
                  <a:ext uri="{FF2B5EF4-FFF2-40B4-BE49-F238E27FC236}">
                    <a16:creationId xmlns:a16="http://schemas.microsoft.com/office/drawing/2014/main" id="{DE47A5D7-F7B8-4CDD-AB69-2EF4DE009F87}"/>
                  </a:ext>
                </a:extLst>
              </p:cNvPr>
              <p:cNvGrpSpPr/>
              <p:nvPr/>
            </p:nvGrpSpPr>
            <p:grpSpPr>
              <a:xfrm>
                <a:off x="6136742" y="2564706"/>
                <a:ext cx="3989340" cy="216024"/>
                <a:chOff x="1919536" y="2566219"/>
                <a:chExt cx="3989340" cy="216024"/>
              </a:xfrm>
            </p:grpSpPr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A0A89244-F08E-4C33-A43E-14E73EDE7EC5}"/>
                    </a:ext>
                  </a:extLst>
                </p:cNvPr>
                <p:cNvSpPr/>
                <p:nvPr/>
              </p:nvSpPr>
              <p:spPr>
                <a:xfrm>
                  <a:off x="1919536" y="2566219"/>
                  <a:ext cx="216024" cy="216024"/>
                </a:xfrm>
                <a:prstGeom prst="ellipse">
                  <a:avLst/>
                </a:prstGeom>
                <a:solidFill>
                  <a:srgbClr val="292E47">
                    <a:alpha val="38824"/>
                  </a:srgbClr>
                </a:solidFill>
                <a:ln w="19050">
                  <a:solidFill>
                    <a:srgbClr val="292E47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3" name="Ellipse 32">
                  <a:extLst>
                    <a:ext uri="{FF2B5EF4-FFF2-40B4-BE49-F238E27FC236}">
                      <a16:creationId xmlns:a16="http://schemas.microsoft.com/office/drawing/2014/main" id="{BCE5FB9E-F39C-45DD-8116-C6CB40BE5880}"/>
                    </a:ext>
                  </a:extLst>
                </p:cNvPr>
                <p:cNvSpPr/>
                <p:nvPr/>
              </p:nvSpPr>
              <p:spPr>
                <a:xfrm>
                  <a:off x="2855640" y="2566219"/>
                  <a:ext cx="216024" cy="216024"/>
                </a:xfrm>
                <a:prstGeom prst="ellipse">
                  <a:avLst/>
                </a:prstGeom>
                <a:solidFill>
                  <a:srgbClr val="292E47">
                    <a:alpha val="38824"/>
                  </a:srgbClr>
                </a:solidFill>
                <a:ln w="19050">
                  <a:solidFill>
                    <a:srgbClr val="292E47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4" name="Ellipse 33">
                  <a:extLst>
                    <a:ext uri="{FF2B5EF4-FFF2-40B4-BE49-F238E27FC236}">
                      <a16:creationId xmlns:a16="http://schemas.microsoft.com/office/drawing/2014/main" id="{91A48C1A-6695-464F-A2C4-29B6AA0CDD63}"/>
                    </a:ext>
                  </a:extLst>
                </p:cNvPr>
                <p:cNvSpPr/>
                <p:nvPr/>
              </p:nvSpPr>
              <p:spPr>
                <a:xfrm>
                  <a:off x="3751002" y="2566219"/>
                  <a:ext cx="216024" cy="216024"/>
                </a:xfrm>
                <a:prstGeom prst="ellipse">
                  <a:avLst/>
                </a:prstGeom>
                <a:solidFill>
                  <a:srgbClr val="292E47">
                    <a:alpha val="38824"/>
                  </a:srgbClr>
                </a:solidFill>
                <a:ln w="19050">
                  <a:solidFill>
                    <a:srgbClr val="292E47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Ellipse 34">
                  <a:extLst>
                    <a:ext uri="{FF2B5EF4-FFF2-40B4-BE49-F238E27FC236}">
                      <a16:creationId xmlns:a16="http://schemas.microsoft.com/office/drawing/2014/main" id="{8296D107-2DED-422A-80C7-E2D490F4D49F}"/>
                    </a:ext>
                  </a:extLst>
                </p:cNvPr>
                <p:cNvSpPr/>
                <p:nvPr/>
              </p:nvSpPr>
              <p:spPr>
                <a:xfrm>
                  <a:off x="4327066" y="2566219"/>
                  <a:ext cx="216024" cy="216024"/>
                </a:xfrm>
                <a:prstGeom prst="ellipse">
                  <a:avLst/>
                </a:prstGeom>
                <a:solidFill>
                  <a:srgbClr val="292E47">
                    <a:alpha val="38824"/>
                  </a:srgbClr>
                </a:solidFill>
                <a:ln w="19050">
                  <a:solidFill>
                    <a:srgbClr val="292E47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Rectangle : coins arrondis 35">
                  <a:extLst>
                    <a:ext uri="{FF2B5EF4-FFF2-40B4-BE49-F238E27FC236}">
                      <a16:creationId xmlns:a16="http://schemas.microsoft.com/office/drawing/2014/main" id="{0949A717-CC9A-4EC8-AEF9-6D9C9BCD488C}"/>
                    </a:ext>
                  </a:extLst>
                </p:cNvPr>
                <p:cNvSpPr/>
                <p:nvPr/>
              </p:nvSpPr>
              <p:spPr>
                <a:xfrm>
                  <a:off x="4993210" y="2566219"/>
                  <a:ext cx="915666" cy="2160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92E47">
                    <a:alpha val="38824"/>
                  </a:srgbClr>
                </a:solidFill>
                <a:ln w="19050">
                  <a:solidFill>
                    <a:srgbClr val="292E47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F1F2BB98-EE5A-4A64-8F14-1C0BA9E0E5C1}"/>
                  </a:ext>
                </a:extLst>
              </p:cNvPr>
              <p:cNvSpPr/>
              <p:nvPr/>
            </p:nvSpPr>
            <p:spPr>
              <a:xfrm>
                <a:off x="7627358" y="2564136"/>
                <a:ext cx="216024" cy="216024"/>
              </a:xfrm>
              <a:prstGeom prst="ellipse">
                <a:avLst/>
              </a:prstGeom>
              <a:solidFill>
                <a:srgbClr val="292E47">
                  <a:alpha val="38824"/>
                </a:srgbClr>
              </a:solidFill>
              <a:ln w="19050">
                <a:solidFill>
                  <a:srgbClr val="292E4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C6E457D6-6AA2-4D86-833C-32D5C94C3691}"/>
                  </a:ext>
                </a:extLst>
              </p:cNvPr>
              <p:cNvSpPr/>
              <p:nvPr/>
            </p:nvSpPr>
            <p:spPr>
              <a:xfrm>
                <a:off x="8982226" y="2559759"/>
                <a:ext cx="216024" cy="216024"/>
              </a:xfrm>
              <a:prstGeom prst="ellipse">
                <a:avLst/>
              </a:prstGeom>
              <a:solidFill>
                <a:srgbClr val="292E47">
                  <a:alpha val="38824"/>
                </a:srgbClr>
              </a:solidFill>
              <a:ln w="19050">
                <a:solidFill>
                  <a:srgbClr val="292E4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22817B11-E07E-4E21-8B41-A14C87A0B21F}"/>
                  </a:ext>
                </a:extLst>
              </p:cNvPr>
              <p:cNvSpPr/>
              <p:nvPr/>
            </p:nvSpPr>
            <p:spPr>
              <a:xfrm>
                <a:off x="8760296" y="2559759"/>
                <a:ext cx="216024" cy="216024"/>
              </a:xfrm>
              <a:prstGeom prst="ellipse">
                <a:avLst/>
              </a:prstGeom>
              <a:solidFill>
                <a:srgbClr val="292E47">
                  <a:alpha val="38824"/>
                </a:srgbClr>
              </a:solidFill>
              <a:ln w="19050">
                <a:solidFill>
                  <a:srgbClr val="292E4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24BC46B0-F750-4C7B-B93F-686090576FEF}"/>
                  </a:ext>
                </a:extLst>
              </p:cNvPr>
              <p:cNvSpPr/>
              <p:nvPr/>
            </p:nvSpPr>
            <p:spPr>
              <a:xfrm>
                <a:off x="8281008" y="2566219"/>
                <a:ext cx="216024" cy="216024"/>
              </a:xfrm>
              <a:prstGeom prst="ellipse">
                <a:avLst/>
              </a:prstGeom>
              <a:solidFill>
                <a:srgbClr val="292E47">
                  <a:alpha val="38824"/>
                </a:srgbClr>
              </a:solidFill>
              <a:ln w="19050">
                <a:solidFill>
                  <a:srgbClr val="292E4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4E519E32-B675-4AB9-A049-FDEA1FBC51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930527" y="3915149"/>
            <a:ext cx="8996634" cy="2322635"/>
            <a:chOff x="1604814" y="3770661"/>
            <a:chExt cx="8996634" cy="2322635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FE1B5922-CB56-4588-B26D-0B92FE6243C1}"/>
                </a:ext>
              </a:extLst>
            </p:cNvPr>
            <p:cNvGrpSpPr/>
            <p:nvPr/>
          </p:nvGrpSpPr>
          <p:grpSpPr>
            <a:xfrm>
              <a:off x="1604814" y="4005064"/>
              <a:ext cx="8996634" cy="2088232"/>
              <a:chOff x="1991544" y="4005064"/>
              <a:chExt cx="8996634" cy="2088232"/>
            </a:xfrm>
          </p:grpSpPr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D8505539-1FA2-4BF2-8034-1B38DEF4A602}"/>
                  </a:ext>
                </a:extLst>
              </p:cNvPr>
              <p:cNvSpPr/>
              <p:nvPr/>
            </p:nvSpPr>
            <p:spPr>
              <a:xfrm>
                <a:off x="3379352" y="4350046"/>
                <a:ext cx="216024" cy="216024"/>
              </a:xfrm>
              <a:prstGeom prst="ellipse">
                <a:avLst/>
              </a:prstGeom>
              <a:solidFill>
                <a:srgbClr val="61257F">
                  <a:alpha val="38824"/>
                </a:srgbClr>
              </a:solidFill>
              <a:ln w="19050">
                <a:solidFill>
                  <a:srgbClr val="61257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2" name="Rectangle : coins arrondis 41">
                <a:extLst>
                  <a:ext uri="{FF2B5EF4-FFF2-40B4-BE49-F238E27FC236}">
                    <a16:creationId xmlns:a16="http://schemas.microsoft.com/office/drawing/2014/main" id="{D56B29CF-F400-4ECE-93EB-DA2223A952EB}"/>
                  </a:ext>
                </a:extLst>
              </p:cNvPr>
              <p:cNvSpPr/>
              <p:nvPr/>
            </p:nvSpPr>
            <p:spPr>
              <a:xfrm>
                <a:off x="2679710" y="4782094"/>
                <a:ext cx="915666" cy="216024"/>
              </a:xfrm>
              <a:prstGeom prst="roundRect">
                <a:avLst>
                  <a:gd name="adj" fmla="val 50000"/>
                </a:avLst>
              </a:prstGeom>
              <a:solidFill>
                <a:srgbClr val="61257F">
                  <a:alpha val="38824"/>
                </a:srgbClr>
              </a:solidFill>
              <a:ln w="19050">
                <a:solidFill>
                  <a:srgbClr val="61257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91BE111E-018B-444A-9766-5895EE224E42}"/>
                  </a:ext>
                </a:extLst>
              </p:cNvPr>
              <p:cNvSpPr/>
              <p:nvPr/>
            </p:nvSpPr>
            <p:spPr>
              <a:xfrm>
                <a:off x="3379352" y="5214142"/>
                <a:ext cx="216024" cy="216024"/>
              </a:xfrm>
              <a:prstGeom prst="ellipse">
                <a:avLst/>
              </a:prstGeom>
              <a:solidFill>
                <a:srgbClr val="292E47">
                  <a:alpha val="38824"/>
                </a:srgbClr>
              </a:solidFill>
              <a:ln w="19050">
                <a:solidFill>
                  <a:srgbClr val="292E4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Rectangle : coins arrondis 43">
                <a:extLst>
                  <a:ext uri="{FF2B5EF4-FFF2-40B4-BE49-F238E27FC236}">
                    <a16:creationId xmlns:a16="http://schemas.microsoft.com/office/drawing/2014/main" id="{F891A3F6-7CAF-4216-81B4-7D648D1A44F3}"/>
                  </a:ext>
                </a:extLst>
              </p:cNvPr>
              <p:cNvSpPr/>
              <p:nvPr/>
            </p:nvSpPr>
            <p:spPr>
              <a:xfrm>
                <a:off x="2679710" y="5672533"/>
                <a:ext cx="915666" cy="216024"/>
              </a:xfrm>
              <a:prstGeom prst="roundRect">
                <a:avLst>
                  <a:gd name="adj" fmla="val 50000"/>
                </a:avLst>
              </a:prstGeom>
              <a:solidFill>
                <a:srgbClr val="292E47">
                  <a:alpha val="38824"/>
                </a:srgbClr>
              </a:solidFill>
              <a:ln w="19050">
                <a:solidFill>
                  <a:srgbClr val="292E4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1C34910-AAA6-410E-82E1-4A761DA3A259}"/>
                  </a:ext>
                </a:extLst>
              </p:cNvPr>
              <p:cNvSpPr txBox="1"/>
              <p:nvPr/>
            </p:nvSpPr>
            <p:spPr>
              <a:xfrm>
                <a:off x="3914206" y="4250190"/>
                <a:ext cx="63071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>
                    <a:latin typeface="Franklin Gothic Book" panose="020B0503020102020204" pitchFamily="34" charset="0"/>
                  </a:rPr>
                  <a:t>Evènement nouveau avec une faible apparition</a:t>
                </a:r>
              </a:p>
            </p:txBody>
          </p:sp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9D72E2B4-8C80-4576-AFA0-D4D5835EFF9C}"/>
                  </a:ext>
                </a:extLst>
              </p:cNvPr>
              <p:cNvSpPr txBox="1"/>
              <p:nvPr/>
            </p:nvSpPr>
            <p:spPr>
              <a:xfrm>
                <a:off x="3914206" y="4720829"/>
                <a:ext cx="70739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>
                    <a:latin typeface="Franklin Gothic Book" panose="020B0503020102020204" pitchFamily="34" charset="0"/>
                  </a:rPr>
                  <a:t>Evènement nouveau avec une faible apparition mais de plus en plus fréquente</a:t>
                </a:r>
              </a:p>
            </p:txBody>
          </p:sp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2B4D09C9-33F1-49C8-A349-1538864C4186}"/>
                  </a:ext>
                </a:extLst>
              </p:cNvPr>
              <p:cNvSpPr txBox="1"/>
              <p:nvPr/>
            </p:nvSpPr>
            <p:spPr>
              <a:xfrm>
                <a:off x="3914206" y="5142134"/>
                <a:ext cx="63071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>
                    <a:latin typeface="Franklin Gothic Book" panose="020B0503020102020204" pitchFamily="34" charset="0"/>
                  </a:rPr>
                  <a:t>Evènement nouveau avec une forte apparition</a:t>
                </a:r>
              </a:p>
            </p:txBody>
          </p:sp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27BBA198-65B5-4658-A4C8-50FD1D5B52B1}"/>
                  </a:ext>
                </a:extLst>
              </p:cNvPr>
              <p:cNvSpPr txBox="1"/>
              <p:nvPr/>
            </p:nvSpPr>
            <p:spPr>
              <a:xfrm>
                <a:off x="3914206" y="5626445"/>
                <a:ext cx="63071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>
                    <a:latin typeface="Franklin Gothic Book" panose="020B0503020102020204" pitchFamily="34" charset="0"/>
                  </a:rPr>
                  <a:t>Evènement connu avec très une forte apparition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F09D36E-CA7C-4949-B785-1A725F14DD9F}"/>
                  </a:ext>
                </a:extLst>
              </p:cNvPr>
              <p:cNvSpPr/>
              <p:nvPr/>
            </p:nvSpPr>
            <p:spPr>
              <a:xfrm>
                <a:off x="1991544" y="4005064"/>
                <a:ext cx="8229860" cy="2088232"/>
              </a:xfrm>
              <a:prstGeom prst="rect">
                <a:avLst/>
              </a:prstGeom>
              <a:noFill/>
              <a:ln>
                <a:solidFill>
                  <a:srgbClr val="292E4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A032DC80-8496-48B2-B080-331B9513DB20}"/>
                </a:ext>
              </a:extLst>
            </p:cNvPr>
            <p:cNvSpPr txBox="1"/>
            <p:nvPr/>
          </p:nvSpPr>
          <p:spPr>
            <a:xfrm>
              <a:off x="1667508" y="3770661"/>
              <a:ext cx="132511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292E47"/>
                  </a:solidFill>
                  <a:latin typeface="Franklin Gothic Demi Cond" panose="020B0706030402020204" pitchFamily="34" charset="0"/>
                </a:rPr>
                <a:t>LÉGENDE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2DA76A3-1130-4EE8-9B9A-F5081662C46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84350" y="1153725"/>
            <a:ext cx="98167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Franklin Gothic Book" panose="020B0503020102020204" pitchFamily="34" charset="0"/>
              </a:rPr>
              <a:t>Un signal faible est un évènement qui peut potentiellement devenir une tendance lourde.</a:t>
            </a:r>
          </a:p>
        </p:txBody>
      </p:sp>
    </p:spTree>
    <p:extLst>
      <p:ext uri="{BB962C8B-B14F-4D97-AF65-F5344CB8AC3E}">
        <p14:creationId xmlns:p14="http://schemas.microsoft.com/office/powerpoint/2010/main" val="3315456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29A561A-027A-3624-417F-8C5A1887387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5440" y="476672"/>
            <a:ext cx="9433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ranklin Gothic Heavy" panose="020B0903020102020204" pitchFamily="34" charset="0"/>
              </a:rPr>
              <a:t>Qu’est-ce qu’une technologie ?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197CE93-BA89-D97F-127F-8E5FB3B857A9}"/>
              </a:ext>
            </a:extLst>
          </p:cNvPr>
          <p:cNvSpPr txBox="1"/>
          <p:nvPr/>
        </p:nvSpPr>
        <p:spPr>
          <a:xfrm>
            <a:off x="796628" y="1052736"/>
            <a:ext cx="9721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600" dirty="0">
                <a:latin typeface="Franklin Gothic Book" panose="020B0503020102020204" pitchFamily="34" charset="0"/>
              </a:rPr>
              <a:t>La technologie fait référence à l'ensemble des connaissances, des outils, des méthodes et des processus utilisés pour résoudre des problèmes, réaliser des tâches et atteindre des objectifs dans divers domaines de l'activité humaine.</a:t>
            </a:r>
          </a:p>
          <a:p>
            <a:pPr algn="just"/>
            <a:endParaRPr lang="fr-FR" sz="1600" dirty="0">
              <a:latin typeface="Franklin Gothic Book" panose="020B0503020102020204" pitchFamily="34" charset="0"/>
            </a:endParaRP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22731596-3D51-5E5C-BF93-C104BCC40400}"/>
              </a:ext>
            </a:extLst>
          </p:cNvPr>
          <p:cNvGrpSpPr/>
          <p:nvPr/>
        </p:nvGrpSpPr>
        <p:grpSpPr>
          <a:xfrm>
            <a:off x="1690865" y="2103352"/>
            <a:ext cx="1077218" cy="1077218"/>
            <a:chOff x="4583832" y="2129954"/>
            <a:chExt cx="1368152" cy="1368152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069F756F-20DE-287E-F311-61ABEAEB72D4}"/>
                </a:ext>
              </a:extLst>
            </p:cNvPr>
            <p:cNvSpPr/>
            <p:nvPr/>
          </p:nvSpPr>
          <p:spPr>
            <a:xfrm>
              <a:off x="4583832" y="2129954"/>
              <a:ext cx="1368152" cy="1368152"/>
            </a:xfrm>
            <a:prstGeom prst="ellipse">
              <a:avLst/>
            </a:prstGeom>
            <a:solidFill>
              <a:srgbClr val="292E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latin typeface="Franklin Gothic Demi Cond" panose="020B0706030402020204" pitchFamily="34" charset="0"/>
                </a:rPr>
                <a:t>1</a:t>
              </a: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00BA50B3-D032-92FE-7C59-471D3E595C68}"/>
                </a:ext>
              </a:extLst>
            </p:cNvPr>
            <p:cNvSpPr/>
            <p:nvPr/>
          </p:nvSpPr>
          <p:spPr>
            <a:xfrm>
              <a:off x="4660032" y="2213248"/>
              <a:ext cx="1215752" cy="1215752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0BB1978E-C7A4-2762-C7A5-47B83169CF58}"/>
              </a:ext>
            </a:extLst>
          </p:cNvPr>
          <p:cNvGrpSpPr/>
          <p:nvPr/>
        </p:nvGrpSpPr>
        <p:grpSpPr>
          <a:xfrm>
            <a:off x="1690865" y="3429000"/>
            <a:ext cx="1077218" cy="1077218"/>
            <a:chOff x="4583832" y="2129954"/>
            <a:chExt cx="1368152" cy="1368152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A0D4025F-F2DB-E8CF-88EE-90183BF258F9}"/>
                </a:ext>
              </a:extLst>
            </p:cNvPr>
            <p:cNvSpPr/>
            <p:nvPr/>
          </p:nvSpPr>
          <p:spPr>
            <a:xfrm>
              <a:off x="4583832" y="2129954"/>
              <a:ext cx="1368152" cy="1368152"/>
            </a:xfrm>
            <a:prstGeom prst="ellipse">
              <a:avLst/>
            </a:prstGeom>
            <a:solidFill>
              <a:srgbClr val="6125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Franklin Gothic Demi Cond" panose="020B0706030402020204" pitchFamily="34" charset="0"/>
                </a:rPr>
                <a:t>2</a:t>
              </a:r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463F1CC7-0EC1-8989-25B6-F3131B83C7F7}"/>
                </a:ext>
              </a:extLst>
            </p:cNvPr>
            <p:cNvSpPr/>
            <p:nvPr/>
          </p:nvSpPr>
          <p:spPr>
            <a:xfrm>
              <a:off x="4660032" y="2213248"/>
              <a:ext cx="1215752" cy="1215752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E8F3D6B9-A2DE-FA3D-0356-2FFCBAF8C06E}"/>
              </a:ext>
            </a:extLst>
          </p:cNvPr>
          <p:cNvGrpSpPr/>
          <p:nvPr/>
        </p:nvGrpSpPr>
        <p:grpSpPr>
          <a:xfrm>
            <a:off x="1690865" y="4776549"/>
            <a:ext cx="1077218" cy="1077218"/>
            <a:chOff x="4583832" y="2129954"/>
            <a:chExt cx="1368152" cy="1368152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1825B8C8-73C2-8E0B-B76C-3053DB32562F}"/>
                </a:ext>
              </a:extLst>
            </p:cNvPr>
            <p:cNvSpPr/>
            <p:nvPr/>
          </p:nvSpPr>
          <p:spPr>
            <a:xfrm>
              <a:off x="4583832" y="2129954"/>
              <a:ext cx="1368152" cy="1368152"/>
            </a:xfrm>
            <a:prstGeom prst="ellipse">
              <a:avLst/>
            </a:prstGeom>
            <a:solidFill>
              <a:srgbClr val="B4B9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Franklin Gothic Demi Cond" panose="020B0706030402020204" pitchFamily="34" charset="0"/>
                </a:rPr>
                <a:t>3</a:t>
              </a: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957D8966-96B7-4228-5BAE-E47E777FE239}"/>
                </a:ext>
              </a:extLst>
            </p:cNvPr>
            <p:cNvSpPr/>
            <p:nvPr/>
          </p:nvSpPr>
          <p:spPr>
            <a:xfrm>
              <a:off x="4660032" y="2213248"/>
              <a:ext cx="1215752" cy="1215752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C31AB9FC-90C0-3E78-4B7E-20150F9E0377}"/>
              </a:ext>
            </a:extLst>
          </p:cNvPr>
          <p:cNvCxnSpPr/>
          <p:nvPr/>
        </p:nvCxnSpPr>
        <p:spPr>
          <a:xfrm>
            <a:off x="2896547" y="2657825"/>
            <a:ext cx="1008112" cy="0"/>
          </a:xfrm>
          <a:prstGeom prst="line">
            <a:avLst/>
          </a:prstGeom>
          <a:ln w="38100">
            <a:solidFill>
              <a:srgbClr val="292E47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D5FDC00E-CE67-216C-9FE9-FE15A5DACD1D}"/>
              </a:ext>
            </a:extLst>
          </p:cNvPr>
          <p:cNvCxnSpPr/>
          <p:nvPr/>
        </p:nvCxnSpPr>
        <p:spPr>
          <a:xfrm>
            <a:off x="2927648" y="3887633"/>
            <a:ext cx="1008112" cy="0"/>
          </a:xfrm>
          <a:prstGeom prst="line">
            <a:avLst/>
          </a:prstGeom>
          <a:ln w="38100">
            <a:solidFill>
              <a:srgbClr val="61257F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8E5DDCCA-E8D3-51D3-66A8-2DDD3801C812}"/>
              </a:ext>
            </a:extLst>
          </p:cNvPr>
          <p:cNvCxnSpPr/>
          <p:nvPr/>
        </p:nvCxnSpPr>
        <p:spPr>
          <a:xfrm>
            <a:off x="2927648" y="5288326"/>
            <a:ext cx="1008112" cy="0"/>
          </a:xfrm>
          <a:prstGeom prst="line">
            <a:avLst/>
          </a:prstGeom>
          <a:ln w="38100">
            <a:solidFill>
              <a:srgbClr val="B4B9D4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E7AD74E-AD7E-892E-C225-20C71502BED5}"/>
              </a:ext>
            </a:extLst>
          </p:cNvPr>
          <p:cNvSpPr/>
          <p:nvPr/>
        </p:nvSpPr>
        <p:spPr bwMode="auto">
          <a:xfrm>
            <a:off x="4079774" y="2491923"/>
            <a:ext cx="6557336" cy="769441"/>
          </a:xfrm>
          <a:prstGeom prst="rect">
            <a:avLst/>
          </a:prstGeom>
          <a:grpFill/>
        </p:spPr>
        <p:txBody>
          <a:bodyPr wrap="square">
            <a:spAutoFit/>
          </a:bodyPr>
          <a:lstStyle/>
          <a:p>
            <a:pPr marL="0" lvl="0" indent="-1587">
              <a:buFont typeface="Arial"/>
              <a:buNone/>
              <a:defRPr/>
            </a:pPr>
            <a:r>
              <a:rPr lang="fr-FR" sz="1600" dirty="0">
                <a:solidFill>
                  <a:srgbClr val="292E47"/>
                </a:solidFill>
                <a:latin typeface="Franklin Gothic Demi"/>
              </a:rPr>
              <a:t>CONNAISSANCES ET SAVOIR-FAIRE</a:t>
            </a:r>
            <a:endParaRPr dirty="0"/>
          </a:p>
          <a:p>
            <a:pPr marL="0" lvl="0" indent="-1587">
              <a:buFont typeface="Arial"/>
              <a:buNone/>
              <a:defRPr/>
            </a:pPr>
            <a:r>
              <a:rPr lang="fr-FR" sz="1400" dirty="0">
                <a:latin typeface="Franklin Gothic Book"/>
              </a:rPr>
              <a:t>Ensemble des connaissances théoriques et pratiques acquises pour concevoir, créer, exploiter et améliorer des outils, des systèmes et des processus</a:t>
            </a:r>
            <a:r>
              <a:rPr lang="fr-FR" sz="1400" dirty="0"/>
              <a:t>.</a:t>
            </a:r>
            <a:endParaRPr sz="28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2F38F5-0B09-34BB-9136-B58D6B9DF2F7}"/>
              </a:ext>
            </a:extLst>
          </p:cNvPr>
          <p:cNvSpPr/>
          <p:nvPr/>
        </p:nvSpPr>
        <p:spPr bwMode="auto">
          <a:xfrm>
            <a:off x="4079774" y="3739679"/>
            <a:ext cx="6696746" cy="769441"/>
          </a:xfrm>
          <a:prstGeom prst="rect">
            <a:avLst/>
          </a:prstGeom>
          <a:grpFill/>
        </p:spPr>
        <p:txBody>
          <a:bodyPr wrap="square">
            <a:spAutoFit/>
          </a:bodyPr>
          <a:lstStyle/>
          <a:p>
            <a:pPr indent="-1587">
              <a:defRPr/>
            </a:pPr>
            <a:r>
              <a:rPr lang="fr-FR" sz="1600" dirty="0">
                <a:solidFill>
                  <a:srgbClr val="61257F"/>
                </a:solidFill>
                <a:latin typeface="Franklin Gothic Demi"/>
              </a:rPr>
              <a:t>OUTILS ET EQUIPEMENTS</a:t>
            </a:r>
            <a:endParaRPr lang="fr-FR" sz="1600" dirty="0">
              <a:solidFill>
                <a:srgbClr val="61257F"/>
              </a:solidFill>
              <a:latin typeface="Franklin Gothic Book"/>
            </a:endParaRPr>
          </a:p>
          <a:p>
            <a:pPr marL="0" lvl="0" indent="-1587">
              <a:buFont typeface="Arial"/>
              <a:buNone/>
              <a:defRPr/>
            </a:pPr>
            <a:r>
              <a:rPr lang="fr-FR" sz="1400" dirty="0">
                <a:latin typeface="Franklin Gothic Book"/>
              </a:rPr>
              <a:t>Instruments physiques, machines, appareils et dispositifs utilisés pour effectuer des tâches spécifiques </a:t>
            </a:r>
            <a:r>
              <a:rPr lang="fr-FR" sz="1400" i="1" dirty="0">
                <a:latin typeface="Franklin Gothic Book"/>
              </a:rPr>
              <a:t>(ordinateur, machines de production…).</a:t>
            </a:r>
            <a:endParaRPr sz="2800" i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CD1519-FEC5-AFFD-4F82-9824D529ED65}"/>
              </a:ext>
            </a:extLst>
          </p:cNvPr>
          <p:cNvSpPr/>
          <p:nvPr/>
        </p:nvSpPr>
        <p:spPr bwMode="auto">
          <a:xfrm>
            <a:off x="4110875" y="5077053"/>
            <a:ext cx="6665645" cy="769441"/>
          </a:xfrm>
          <a:prstGeom prst="rect">
            <a:avLst/>
          </a:prstGeom>
          <a:grp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600" dirty="0">
                <a:solidFill>
                  <a:srgbClr val="B4B9D4"/>
                </a:solidFill>
                <a:latin typeface="Franklin Gothic Demi"/>
              </a:rPr>
              <a:t>METHODES ET PROCEDURES</a:t>
            </a:r>
            <a:endParaRPr lang="fr-FR" sz="1600" dirty="0">
              <a:solidFill>
                <a:srgbClr val="B4B9D4"/>
              </a:solidFill>
              <a:latin typeface="Franklin Gothic Book"/>
            </a:endParaRPr>
          </a:p>
          <a:p>
            <a:pPr marL="0" lvl="0" indent="-1587">
              <a:buFont typeface="Arial"/>
              <a:buNone/>
              <a:defRPr/>
            </a:pPr>
            <a:r>
              <a:rPr lang="fr-FR" sz="1400" dirty="0">
                <a:latin typeface="Franklin Gothic Book"/>
              </a:rPr>
              <a:t>Processus systématiques et méthodes utilisés pour réaliser des activités spécifiques </a:t>
            </a:r>
            <a:r>
              <a:rPr lang="fr-FR" sz="1400" i="1" dirty="0">
                <a:latin typeface="Franklin Gothic Book"/>
              </a:rPr>
              <a:t>(algorithmes, techniques de fabrication, protocoles…)</a:t>
            </a:r>
            <a:endParaRPr sz="2800" i="1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0AFB0FF-F03F-4720-9B72-9FC26623A62E}"/>
              </a:ext>
            </a:extLst>
          </p:cNvPr>
          <p:cNvSpPr txBox="1"/>
          <p:nvPr/>
        </p:nvSpPr>
        <p:spPr>
          <a:xfrm>
            <a:off x="5879976" y="6596390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>
                <a:latin typeface="Franklin Gothic Book" panose="020B0503020102020204" pitchFamily="34" charset="0"/>
              </a:rPr>
              <a:t>Khalil (2000)</a:t>
            </a:r>
          </a:p>
        </p:txBody>
      </p:sp>
    </p:spTree>
    <p:extLst>
      <p:ext uri="{BB962C8B-B14F-4D97-AF65-F5344CB8AC3E}">
        <p14:creationId xmlns:p14="http://schemas.microsoft.com/office/powerpoint/2010/main" val="9019149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183</Words>
  <Application>Microsoft Macintosh PowerPoint</Application>
  <PresentationFormat>Grand écran</PresentationFormat>
  <Paragraphs>22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Franklin Gothic Book</vt:lpstr>
      <vt:lpstr>Franklin Gothic Demi</vt:lpstr>
      <vt:lpstr>Franklin Gothic Demi Cond</vt:lpstr>
      <vt:lpstr>Franklin Gothic Heavy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</dc:creator>
  <cp:lastModifiedBy>Mauricio</cp:lastModifiedBy>
  <cp:revision>2</cp:revision>
  <dcterms:created xsi:type="dcterms:W3CDTF">2026-07-02T10:09:35Z</dcterms:created>
  <dcterms:modified xsi:type="dcterms:W3CDTF">2026-07-02T10:14:44Z</dcterms:modified>
</cp:coreProperties>
</file>